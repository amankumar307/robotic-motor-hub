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914400"/>
            <a:ext cx="4114800" cy="411480"/>
          </a:xfrm>
          <a:prstGeom prst="roundRect">
            <a:avLst/>
          </a:prstGeom>
          <a:solidFill>
            <a:srgbClr val="141E3C"/>
          </a:solidFill>
          <a:ln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E5FF"/>
                </a:solidFill>
              </a:defRPr>
            </a:pPr>
            <a:r>
              <a:t>★ DOMAIN 5 : ROBOTICS &amp; HARDWARE EMULATION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Robotic Multi-Axis Motor Controller</a:t>
            </a:r>
            <a:br/>
            <a:r>
              <a:t>&amp; Actuator Hub</a:t>
            </a:r>
          </a:p>
          <a:p>
            <a:pPr>
              <a:spcBef>
                <a:spcPts val="800"/>
              </a:spcBef>
              <a:defRPr sz="1600">
                <a:solidFill>
                  <a:srgbClr val="00E5FF"/>
                </a:solidFill>
              </a:defRPr>
            </a:pPr>
            <a:r>
              <a:t>Linux Device Drivers  •  POSIX Real-Time Systems  •  Modern C++ Motion Control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840480"/>
            <a:ext cx="2468880" cy="118872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93192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E5FF"/>
                </a:solidFill>
              </a:defRPr>
            </a:pPr>
            <a:r>
              <a:t>1 kHz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FFFFFF"/>
                </a:solidFill>
              </a:defRPr>
            </a:pPr>
            <a:r>
              <a:t>Real-Time Loop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SCHED_FIFO Priority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3840480"/>
            <a:ext cx="2468880" cy="118872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393192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24 µs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FFFFFF"/>
                </a:solidFill>
              </a:defRPr>
            </a:pPr>
            <a:r>
              <a:t>Loop Execution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6.25x Headroom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840480"/>
            <a:ext cx="2468880" cy="118872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393192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43F5E"/>
                </a:solidFill>
              </a:defRPr>
            </a:pPr>
            <a:r>
              <a:t>&lt; 0.05 ms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FFFFFF"/>
                </a:solidFill>
              </a:defRPr>
            </a:pPr>
            <a:r>
              <a:t>E-Stop Latency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Instant PWM Clamp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3840480"/>
            <a:ext cx="2468880" cy="118872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393192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59E0B"/>
                </a:solidFill>
              </a:defRPr>
            </a:pPr>
            <a:r>
              <a:t>100% Pass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FFFFFF"/>
                </a:solidFill>
              </a:defRPr>
            </a:pPr>
            <a:r>
              <a:t>Test Verification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All 6 Stages Validated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5303520"/>
            <a:ext cx="10362895" cy="914400"/>
          </a:xfrm>
          <a:prstGeom prst="roundRect">
            <a:avLst/>
          </a:prstGeom>
          <a:solidFill>
            <a:srgbClr val="141E3C"/>
          </a:solidFill>
          <a:ln>
            <a:solidFill>
              <a:srgbClr val="2332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349240"/>
            <a:ext cx="10058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Presenter: Aman Kumar (Engineering Trainee)  |  20-Day Advanced Systems Training Capstone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GitHub Repository: https://github.com/Amankumar307/robotic-motor-hub  |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E5FF"/>
                </a:solidFill>
              </a:defRPr>
            </a:pPr>
            <a:r>
              <a:t>DOMAIN 5: ROBOTICS, EDGE AI &amp; HARDWARE EMULATION  |  STAGE 1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Stage 1: Project Overview &amp; Industrial Problem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0" y="411480"/>
            <a:ext cx="1828800" cy="41148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E5FF"/>
                </a:solidFill>
              </a:defRPr>
            </a:pPr>
            <a:r>
              <a:t>STAGE 1 : INTRO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291840" cy="475488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600200"/>
            <a:ext cx="3017520" cy="411480"/>
          </a:xfrm>
          <a:prstGeom prst="roundRect">
            <a:avLst/>
          </a:prstGeom>
          <a:solidFill>
            <a:srgbClr val="00393F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E5FF"/>
                </a:solidFill>
              </a:defRPr>
            </a:pPr>
            <a:r>
              <a:t> 🤖  INDUSTRIAL APPLICATION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29260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Multi-DoF Robotic Systems: 6-axis articulated arms, 3-axis Cartesian gantries, AGV pods.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Precision Actuation: High-torque brushless DC (BLDC) &amp; stepper motors requiring lockstep control.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Target Verticals: Industrial pick-and-place, CNC milling, laser cutting, semiconductor wafer transfer.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463040"/>
            <a:ext cx="3291840" cy="475488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26280" y="1600200"/>
            <a:ext cx="3017520" cy="411480"/>
          </a:xfrm>
          <a:prstGeom prst="roundRect">
            <a:avLst/>
          </a:prstGeom>
          <a:solidFill>
            <a:srgbClr val="3D0F17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3F5E"/>
                </a:solidFill>
              </a:defRPr>
            </a:pPr>
            <a:r>
              <a:t> ⚠️  CORE ENGINEERING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057400"/>
            <a:ext cx="29260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User-Space Jitter: Non-deterministic scheduling in standard Linux causes motor desynchronization.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Hardware Abstraction Gap: Disconnect between user-space motion planning and silicon MMIO registers.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Safety Hazards: Mechanical stalls, limits, and thermal trips require sub-millisecond E-stop reactions.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83880" y="1600200"/>
            <a:ext cx="3108960" cy="411480"/>
          </a:xfrm>
          <a:prstGeom prst="roundRect">
            <a:avLst/>
          </a:prstGeom>
          <a:solidFill>
            <a:srgbClr val="042E2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 🎯  PROJECT SOLUTION &amp; OBJECTIVES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057400"/>
            <a:ext cx="30175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Custom Linux Character Driver: /dev/motor_hub with MMIO register layout and 1 kHz hrtimer ticks.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Real-Time C++ Daemon: 1000 Hz loop under SCHED_FIFO with zero heap allocations during runtime.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Advanced Motion Mathematics: Anti-windup discrete PID and synchronized trapezoidal profilers.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E5FF"/>
                </a:solidFill>
              </a:defRPr>
            </a:pPr>
            <a:r>
              <a:t>DOMAIN 5: ROBOTICS, EDGE AI &amp; HARDWARE EMULATION  |  STAGE 2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Stage 2: Requirements &amp; PRD Deliverables Matrix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0" y="411480"/>
            <a:ext cx="1828800" cy="41148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E5FF"/>
                </a:solidFill>
              </a:defRPr>
            </a:pPr>
            <a:r>
              <a:t>STAGE 2 : PRD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600200"/>
            <a:ext cx="4846320" cy="411480"/>
          </a:xfrm>
          <a:prstGeom prst="roundRect">
            <a:avLst/>
          </a:prstGeom>
          <a:solidFill>
            <a:srgbClr val="00393F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E5FF"/>
                </a:solidFill>
              </a:defRPr>
            </a:pPr>
            <a:r>
              <a:t> 📋  FUNCTIONAL REQUIREMENTS (FR)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4754879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FR-01: Multi-Axis Actuation: Up to 6 coordinated motion axes (X, Y, Z, Roll, Pitch, Yaw).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FR-02: Linux Character Driver: IOCTL interface for atomic register read/write and bulk telemetry.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FR-03: Interrupt Emulation: 1 kHz hardware physics tick via kernel hrtimer clock.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FR-04: Closed-Loop Regulation: Discrete PID control with anti-windup clamping.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FR-05: Synchronized Profiling: Trapezoidal velocity planning across all active axes.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FR-06: Dual-Mode HAL: Swappable Linux driver and high-fidelity mock emulator.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1600200"/>
            <a:ext cx="4937760" cy="411480"/>
          </a:xfrm>
          <a:prstGeom prst="roundRect">
            <a:avLst/>
          </a:prstGeom>
          <a:solidFill>
            <a:srgbClr val="3D2702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59E0B"/>
                </a:solidFill>
              </a:defRPr>
            </a:pPr>
            <a:r>
              <a:t> 📊  NON-FUNCTIONAL REQUIREMENTS (NFR)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NFR-01: Control Frequency: Strict deterministic 1000 Hz (1.0 ms period).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NFR-02: Computation Budget: &lt;= 150 µs loop execution time budget.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NFR-03: E-Stop Response: PWM clamp to zero in &lt;= 1.0 ms upon fault trigger.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NFR-04: Memory Footprint: Resident memory (RSS) strictly capped at &lt;= 16 MB.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NFR-05: Zero Heap Jitter: Pre-allocated arrays (alignas(64)) to avoid malloc() in periodic loop.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NFR-06: Zero-Copy Telemetry: High-speed POSIX Shared Memory (/dev/shm) streaming.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E5FF"/>
                </a:solidFill>
              </a:defRPr>
            </a:pPr>
            <a:r>
              <a:t>DOMAIN 5: ROBOTICS, EDGE AI &amp; HARDWARE EMULATION  |  STAGE 3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Stage 3: 5-Layer Decoupled System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0" y="411480"/>
            <a:ext cx="1828800" cy="41148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E5FF"/>
                </a:solidFill>
              </a:defRPr>
            </a:pPr>
            <a:r>
              <a:t>STAGE 3 : ARCH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698480" cy="841248"/>
          </a:xfrm>
          <a:prstGeom prst="roundRect">
            <a:avLst/>
          </a:prstGeom>
          <a:solidFill>
            <a:srgbClr val="141E3C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1600200"/>
            <a:ext cx="548640" cy="548640"/>
          </a:xfrm>
          <a:prstGeom prst="roundRect">
            <a:avLst/>
          </a:prstGeom>
          <a:solidFill>
            <a:srgbClr val="2A153D"/>
          </a:solidFill>
          <a:ln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572768"/>
            <a:ext cx="9601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A855F7"/>
                </a:solidFill>
              </a:defRPr>
            </a:pPr>
            <a:r>
              <a:t>Layer 5 : User &amp; Operator Layer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Interactive Motor CLI Client (motor_cli)  •  Live 10 Hz Telemetry Terminal Dashboard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23160"/>
            <a:ext cx="10698480" cy="841248"/>
          </a:xfrm>
          <a:prstGeom prst="roundRect">
            <a:avLst/>
          </a:prstGeom>
          <a:solidFill>
            <a:srgbClr val="141E3C"/>
          </a:solidFill>
          <a:ln w="254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2560320"/>
            <a:ext cx="548640" cy="548640"/>
          </a:xfrm>
          <a:prstGeom prst="roundRect">
            <a:avLst/>
          </a:prstGeom>
          <a:solidFill>
            <a:srgbClr val="00393F"/>
          </a:solidFill>
          <a:ln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532888"/>
            <a:ext cx="9601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E5FF"/>
                </a:solidFill>
              </a:defRPr>
            </a:pPr>
            <a:r>
              <a:t>Layer 4 : Inter-Process Communication (IPC)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POSIX Shared Memory (/dev/shm/motor_hub_telemetry)  •  Asynchronous Command Queue Server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83280"/>
            <a:ext cx="10698480" cy="841248"/>
          </a:xfrm>
          <a:prstGeom prst="roundRect">
            <a:avLst/>
          </a:prstGeom>
          <a:solidFill>
            <a:srgbClr val="141E3C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" y="3520440"/>
            <a:ext cx="548640" cy="548640"/>
          </a:xfrm>
          <a:prstGeom prst="roundRect">
            <a:avLst/>
          </a:prstGeom>
          <a:solidFill>
            <a:srgbClr val="042E20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⚙️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493008"/>
            <a:ext cx="9601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Layer 3 : Real-Time Motion Control Core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1 kHz Periodic Daemon (SCHED_FIFO)  •  MultiAxisController  •  PID  •  TrajectoryPlanner  •  Watchdog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343400"/>
            <a:ext cx="10698480" cy="841248"/>
          </a:xfrm>
          <a:prstGeom prst="roundRect">
            <a:avLst/>
          </a:prstGeom>
          <a:solidFill>
            <a:srgbClr val="141E3C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4400" y="4480560"/>
            <a:ext cx="548640" cy="548640"/>
          </a:xfrm>
          <a:prstGeom prst="roundRect">
            <a:avLst/>
          </a:prstGeom>
          <a:solidFill>
            <a:srgbClr val="3D2702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453128"/>
            <a:ext cx="9601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Layer 2 : Hardware Abstraction Layer (HAL)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IHardwareDevice Interface  •  KernelDeviceDriverHAL  •  MockHardwareEmulatorHAL (Virtual Physics)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303520"/>
            <a:ext cx="10698480" cy="841248"/>
          </a:xfrm>
          <a:prstGeom prst="roundRect">
            <a:avLst/>
          </a:prstGeom>
          <a:solidFill>
            <a:srgbClr val="141E3C"/>
          </a:solidFill>
          <a:ln w="254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4400" y="5440680"/>
            <a:ext cx="548640" cy="548640"/>
          </a:xfrm>
          <a:prstGeom prst="roundRect">
            <a:avLst/>
          </a:prstGeom>
          <a:solidFill>
            <a:srgbClr val="3D0F17"/>
          </a:solidFill>
          <a:ln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🛡️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413248"/>
            <a:ext cx="9601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43F5E"/>
                </a:solidFill>
              </a:defRPr>
            </a:pPr>
            <a:r>
              <a:t>Layer 1 : Linux Kernel Driver &amp; Silicon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motor_hub_driver.ko  •  /dev/motor_hub  •  Sysfs /sys/class/motor_hub_class/  •  MMIO Registers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E5FF"/>
                </a:solidFill>
              </a:defRPr>
            </a:pPr>
            <a:r>
              <a:t>DOMAIN 5: ROBOTICS, EDGE AI &amp; HARDWARE EMULATION  |  STAGE 3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Stage 3: Hardware-Software Co-Design &amp; Register 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0" y="411480"/>
            <a:ext cx="1828800" cy="41148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E5FF"/>
                </a:solidFill>
              </a:defRPr>
            </a:pPr>
            <a:r>
              <a:t>STAGE 3 : MMIO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600200"/>
            <a:ext cx="4846320" cy="411480"/>
          </a:xfrm>
          <a:prstGeom prst="roundRect">
            <a:avLst/>
          </a:prstGeom>
          <a:solidFill>
            <a:srgbClr val="00393F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E5FF"/>
                </a:solidFill>
              </a:defRPr>
            </a:pPr>
            <a:r>
              <a:t> 💾  32-BIT MEMORY-MAPPED REGISTERS (PER AXIS)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4754879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0x00 - REG_AXIS_CTRL: Enable (b0), Reset (b1), E-Stop (b2), Home (b3).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0x04 - REG_AXIS_STATUS: Enabled, InPosition, Error, Limits Hit, E-Stop Active.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0x08 - REG_TARGET_POS: Desired quadrature encoder position (signed 32-bit).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0x0C - REG_ACTUAL_POS: Measured encoder position feedback (signed 32-bit).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0x10 - REG_TARGET_VEL: Commanded target velocity (ticks/second).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0x14 - REG_ACTUAL_VEL: Measured continuous velocity feedback.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0x18 - REG_PWM_OUTPUT: Commanded motor duty effort (-1000 to +1000).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0x1C-0x24 - REG_KP / KI / KD: Discrete PID gains (fixed-point Q16.16).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1600200"/>
            <a:ext cx="4937760" cy="411480"/>
          </a:xfrm>
          <a:prstGeom prst="roundRect">
            <a:avLst/>
          </a:prstGeom>
          <a:solidFill>
            <a:srgbClr val="042E2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 🔄  ACTUATOR FINITE STATE MACHINE (FSM)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UNINITIALIZED: Initial boot state prior to self-test.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IDLE: Driver initialized, drive energized, waiting for commands.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HOMING: Seeking limit switch reference and zeroing encoder coordinates.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POSITIONING: Executing real-time synchronized trajectory moves.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JOGGING: Open-loop or constant velocity manual jogging.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ERROR: Tracking error stall or overtemperature detected.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EMERGENCY_STOP: Immediate hardware PWM cutoff latched.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E5FF"/>
                </a:solidFill>
              </a:defRPr>
            </a:pPr>
            <a:r>
              <a:t>DOMAIN 5: ROBOTICS, EDGE AI &amp; HARDWARE EMULATION  |  STAGE 4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Stage 4: Linux Character Device Driver (/dev/motor_hub)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0" y="411480"/>
            <a:ext cx="1828800" cy="41148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E5FF"/>
                </a:solidFill>
              </a:defRPr>
            </a:pPr>
            <a:r>
              <a:t>STAGE 4 : DRIVER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291840" cy="475488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600200"/>
            <a:ext cx="3017520" cy="411480"/>
          </a:xfrm>
          <a:prstGeom prst="roundRect">
            <a:avLst/>
          </a:prstGeom>
          <a:solidFill>
            <a:srgbClr val="00393F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E5FF"/>
                </a:solidFill>
              </a:defRPr>
            </a:pPr>
            <a:r>
              <a:t> 🐧  CHARACTER DRIVER SUBSYSTEM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29260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alloc_chrdev_region(): Dynamically allocates major/minor device numbers.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cdev_init() &amp; cdev_add(): Registers character device with Virtual File System (VFS).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class_create() &amp; device_create(): Exposes /dev/motor_hub to user space automatically.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Thread-safe file operations for open, release, and unlocked_ioctl.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463040"/>
            <a:ext cx="3291840" cy="475488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26280" y="1600200"/>
            <a:ext cx="3017520" cy="411480"/>
          </a:xfrm>
          <a:prstGeom prst="roundRect">
            <a:avLst/>
          </a:prstGeom>
          <a:solidFill>
            <a:srgbClr val="3D2702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59E0B"/>
                </a:solidFill>
              </a:defRPr>
            </a:pPr>
            <a:r>
              <a:t> 📡  IOCTL INTERFACE &amp; SYSFS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057400"/>
            <a:ext cx="29260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IOCTL_MOTOR_SET_CMD: Sets target position, velocity, and PWM atomically.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IOCTL_MOTOR_READ_ALL: Bulk zero-copy telemetry fetch across all 6 axes.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IOCTL_MOTOR_TRIGGER_ESTOP: Kernel-level emergency stop latch.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Sysfs Diagnostics: /sys/class/motor_hub_class/motor_hub/axis_status provides ASCII status tables.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83880" y="1600200"/>
            <a:ext cx="3108960" cy="411480"/>
          </a:xfrm>
          <a:prstGeom prst="roundRect">
            <a:avLst/>
          </a:prstGeom>
          <a:solidFill>
            <a:srgbClr val="042E2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 ⏱️  KERNEL TIMER &amp; CONCURRENCY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057400"/>
            <a:ext cx="30175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High-Resolution Timer (hrtimer): Emulates 1 kHz (1.0 ms) hardware physics clock.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Physics Simulation: Simulates motor acceleration and encoder count integration.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Concurrency Protection: spin_lock_irqsave() protects MMIO registers in timer interrupt context.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Process-Level Mutex: Guards user-space concurrency.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E5FF"/>
                </a:solidFill>
              </a:defRPr>
            </a:pPr>
            <a:r>
              <a:t>DOMAIN 5: ROBOTICS, EDGE AI &amp; HARDWARE EMULATION  |  STAGE 5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Stage 5: Deterministic C++ Motion Algorithms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0" y="411480"/>
            <a:ext cx="1828800" cy="41148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E5FF"/>
                </a:solidFill>
              </a:defRPr>
            </a:pPr>
            <a:r>
              <a:t>STAGE 5 : MOTION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600200"/>
            <a:ext cx="4846320" cy="411480"/>
          </a:xfrm>
          <a:prstGeom prst="roundRect">
            <a:avLst/>
          </a:prstGeom>
          <a:solidFill>
            <a:srgbClr val="00393F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E5FF"/>
                </a:solidFill>
              </a:defRPr>
            </a:pPr>
            <a:r>
              <a:t> 🧮  ANTI-WINDUP DISCRETE PID CONTROLLER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4754879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Discrete Implementation: u[k] = Kp*e[k] + Ki*integral + Kd*derivative.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Anti-Windup Clamping: Clamps accumulated integral term to +/- 250 to prevent huge overshoots during PWM saturation.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Filtered Derivative: Discrete low-pass filter (alpha = 0.7) eliminates high-frequency encoder quantization chatter.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Deadband Handling: Zeroes PWM hunting jitter when within +/- 5 ticks of setpoint.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1600200"/>
            <a:ext cx="4937760" cy="411480"/>
          </a:xfrm>
          <a:prstGeom prst="roundRect">
            <a:avLst/>
          </a:prstGeom>
          <a:solidFill>
            <a:srgbClr val="042E2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 📈  MULTI-AXIS SYNCHRONIZED TRAJECTORY PROFILER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Trapezoidal Velocity Planning: Calculates acceleration (t_a), cruise (t_c), and deceleration (t_d) phases.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Triangular Adaptation: Automatically switches if distance is too short to reach maximum cruise speed.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Synchronized Scaling: Computes T_max across all axes, then scales velocities and accelerations so all axes start and arrive in lockstep.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E5FF"/>
                </a:solidFill>
              </a:defRPr>
            </a:pPr>
            <a:r>
              <a:t>DOMAIN 5: ROBOTICS, EDGE AI &amp; HARDWARE EMULATION  |  STAGE 5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Stage 5: High-Speed IPC &amp; Real-Time Safety Watchdog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0" y="411480"/>
            <a:ext cx="1828800" cy="41148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E5FF"/>
                </a:solidFill>
              </a:defRPr>
            </a:pPr>
            <a:r>
              <a:t>STAGE 5 : IPC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600200"/>
            <a:ext cx="4846320" cy="411480"/>
          </a:xfrm>
          <a:prstGeom prst="roundRect">
            <a:avLst/>
          </a:prstGeom>
          <a:solidFill>
            <a:srgbClr val="00393F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E5FF"/>
                </a:solidFill>
              </a:defRPr>
            </a:pPr>
            <a:r>
              <a:t> 🚀  ZERO-COPY POSIX SHARED MEMORY IPC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4754879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shm_open() &amp; mmap(): Creates shared memory segment /dev/shm/motor_hub_telemetry.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Zero-Copy Streaming: The 1 kHz daemon publishes telemetry without kernel copying overhead (&lt; 2.1 µs latency).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Cache-Line Alignment: Structures decorated with alignas(64) and alignas(128) to prevent false sharing between CPU cores.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Command Queue: Asynchronous FIFO channel for move/home/estop commands.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1600200"/>
            <a:ext cx="4937760" cy="411480"/>
          </a:xfrm>
          <a:prstGeom prst="roundRect">
            <a:avLst/>
          </a:prstGeom>
          <a:solidFill>
            <a:srgbClr val="3D0F17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43F5E"/>
                </a:solidFill>
              </a:defRPr>
            </a:pPr>
            <a:r>
              <a:t> 🛡️  FAILSAFE WATCHDOG SUPERVISION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Heartbeat Deadline: Monitors daemon periodic loop; missing a 150 ms deadline triggers instant E-Stop.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Tracking Error Threshold: Detects stalls or disconnected encoders if |target - actual| &gt; 35,000 ticks.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Thermal Trip: Monitors simulated temperature sensors; trips E-Stop if T &gt; 80°C.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Sub-Millisecond Cutoff: Disables motor PWM outputs in &lt; 0.05 ms upon fault.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E5FF"/>
                </a:solidFill>
              </a:defRPr>
            </a:pPr>
            <a:r>
              <a:t>DOMAIN 5: ROBOTICS, EDGE AI &amp; HARDWARE EMULATION  |  STAGE 5 &amp;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Stage 5 &amp; 6: Verification &amp; Performance Benchmarking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0" y="411480"/>
            <a:ext cx="1828800" cy="41148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E5FF"/>
                </a:solidFill>
              </a:defRPr>
            </a:pPr>
            <a:r>
              <a:t>BENCHMARKS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2560320" cy="118872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54480"/>
            <a:ext cx="237743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E5FF"/>
                </a:solidFill>
              </a:defRPr>
            </a:pPr>
            <a:r>
              <a:t>1000 Hz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FFFFFF"/>
                </a:solidFill>
              </a:defRPr>
            </a:pPr>
            <a:r>
              <a:t>Control Loop Rate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POSIX RT SCHED_FIFO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463040"/>
            <a:ext cx="2560320" cy="118872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1554480"/>
            <a:ext cx="237743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0B981"/>
                </a:solidFill>
              </a:defRPr>
            </a:pPr>
            <a:r>
              <a:t>24 µs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FFFFFF"/>
                </a:solidFill>
              </a:defRPr>
            </a:pPr>
            <a:r>
              <a:t>Loop Computation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Budget: 150 µs (6.25x Headroom)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463040"/>
            <a:ext cx="2560320" cy="118872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554480"/>
            <a:ext cx="237743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43F5E"/>
                </a:solidFill>
              </a:defRPr>
            </a:pPr>
            <a:r>
              <a:t>&lt; 0.05 ms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FFFFFF"/>
                </a:solidFill>
              </a:defRPr>
            </a:pPr>
            <a:r>
              <a:t>E-Stop Response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Instant PWM Clamp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1463040"/>
            <a:ext cx="2560320" cy="118872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1554480"/>
            <a:ext cx="237743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59E0B"/>
                </a:solidFill>
              </a:defRPr>
            </a:pPr>
            <a:r>
              <a:t>4.8 MB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FFFFFF"/>
                </a:solidFill>
              </a:defRPr>
            </a:pPr>
            <a:r>
              <a:t>Resident Memory</a:t>
            </a:r>
          </a:p>
          <a:p>
            <a:pPr algn="ctr">
              <a:defRPr sz="900">
                <a:solidFill>
                  <a:srgbClr val="94A3B8"/>
                </a:solidFill>
              </a:defRPr>
            </a:pPr>
            <a:r>
              <a:t>70% Below 16 MB Limit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834640"/>
            <a:ext cx="5212080" cy="338328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2971800"/>
            <a:ext cx="4937760" cy="411480"/>
          </a:xfrm>
          <a:prstGeom prst="roundRect">
            <a:avLst/>
          </a:prstGeom>
          <a:solidFill>
            <a:srgbClr val="042E2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 🏆  PICK-AND-PLACE TRAJECTORY RESULTS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429000"/>
            <a:ext cx="484632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4-Waypoint Sequence: Approach -&gt; Lower -&gt; Lift -&gt; Traverse to Place.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Total Simulated Time: 4.202 seconds (4,201 discrete 1 ms cycles).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Execution Speedup: 186.0x real-time speedup during verification.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Steady-State Accuracy: Settled within deadband (Axis X: 0.16 ticks, Axis Y: 4.77 ticks).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834640"/>
            <a:ext cx="5212080" cy="338328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55080" y="2971800"/>
            <a:ext cx="4937760" cy="411480"/>
          </a:xfrm>
          <a:prstGeom prst="roundRect">
            <a:avLst/>
          </a:prstGeom>
          <a:solidFill>
            <a:srgbClr val="00393F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E5FF"/>
                </a:solidFill>
              </a:defRPr>
            </a:pPr>
            <a:r>
              <a:t> ✅  AUTOMATED TEST SUITE SUMMARY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429000"/>
            <a:ext cx="484632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test_pid_controller: Anti-windup clamping &amp; step response validated.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test_trajectory_planner: Profile continuity &amp; multi-axis sync validated.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test_hardware_emulator: MMIO register roundtrips &amp; limit switches validated.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test_failsafe_watchdog: Heartbeat timeout &amp; stall detection validated (100% PASS).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E5FF"/>
                </a:solidFill>
              </a:defRPr>
            </a:pPr>
            <a:r>
              <a:t>DOMAIN 5: ROBOTICS, EDGE AI &amp; HARDWARE EMULATION  |  STAGE 6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Stage 6: Demonstration &amp; Operator CLI Interface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0" y="411480"/>
            <a:ext cx="1828800" cy="41148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E5FF"/>
                </a:solidFill>
              </a:defRPr>
            </a:pPr>
            <a:r>
              <a:t>STAGE 6 : DEMO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600200"/>
            <a:ext cx="4846320" cy="411480"/>
          </a:xfrm>
          <a:prstGeom prst="roundRect">
            <a:avLst/>
          </a:prstGeom>
          <a:solidFill>
            <a:srgbClr val="00393F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E5FF"/>
                </a:solidFill>
              </a:defRPr>
            </a:pPr>
            <a:r>
              <a:t> ⌨️  INTERACTIVE OPERATOR CLI (MOTOR_CLI)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4754879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status: Displays live formatted telemetry table (Positions, Velocities, PWM, Temperatures).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move &lt;axis&gt; &lt;ticks&gt;: Commands single axis to target coordinate.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sync &lt;x&gt; &lt;y&gt; &lt;z&gt;: Coordinates 3 axes in synchronized Cartesian motion.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home &lt;axis&gt;: Homing routine with limit-switch reference zeroing.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monitor: Auto-refreshing 10 Hz streaming live terminal dashboard.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estop / clear: Instant emergency stop and fault reset.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55080" y="1600200"/>
            <a:ext cx="4937760" cy="411480"/>
          </a:xfrm>
          <a:prstGeom prst="roundRect">
            <a:avLst/>
          </a:prstGeom>
          <a:solidFill>
            <a:srgbClr val="042E2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 💻  DUAL HAL &amp; DEPLOYMENT FLEXIBILITY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Linux Driver Mode: Native Linux / WSL2 with compiled kernel module /dev/motor_hub.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Mock Emulation Mode: Runs daemon on any machine with --emulation flag without root privileges.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Python Verification: python scripts/simulate_and_verify.py runs everywhere.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VS Code Integration: Full IntelliSense and one-click build tasks (Ctrl+Shift+B).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E5FF"/>
                </a:solidFill>
              </a:defRPr>
            </a:pPr>
            <a:r>
              <a:t>DOMAIN 5: ROBOTICS, EDGE AI &amp; HARDWARE EMULATION  |  STAGE 6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Stage 6: Achievements, Limitations &amp; Future Roadmap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0" y="411480"/>
            <a:ext cx="1828800" cy="41148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E5FF"/>
                </a:solidFill>
              </a:defRPr>
            </a:pPr>
            <a:r>
              <a:t>SUMMARY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291840" cy="475488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600200"/>
            <a:ext cx="3017520" cy="411480"/>
          </a:xfrm>
          <a:prstGeom prst="roundRect">
            <a:avLst/>
          </a:prstGeom>
          <a:solidFill>
            <a:srgbClr val="042E2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 🌟  KEY ACHIEVEMENTS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29260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Completed all 6 development stages with rigorous documentation.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Demonstrated Linux kernel drivers, real-time POSIX systems, and modern C++.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Sub-millisecond determinism (24 µs loop latency vs 150 µs limit).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Structured Git version history with semantic commits on GitHub.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463040"/>
            <a:ext cx="3291840" cy="475488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26280" y="1600200"/>
            <a:ext cx="3017520" cy="411480"/>
          </a:xfrm>
          <a:prstGeom prst="roundRect">
            <a:avLst/>
          </a:prstGeom>
          <a:solidFill>
            <a:srgbClr val="3D2702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59E0B"/>
                </a:solidFill>
              </a:defRPr>
            </a:pPr>
            <a:r>
              <a:t> ⚠️  TECHNICAL LIMITATIONS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057400"/>
            <a:ext cx="29260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Silicon Verification: Tested on high-fidelity virtual MMIO registers rather than physical FPGA/ASIC.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Trajectory Dynamics: Employs trapezoidal velocity profiles rather than 7-phase jerk-limited S-curves.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Direct MMIO: Direct memory mapping rather than decentralized fieldbus protocols.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83880" y="1600200"/>
            <a:ext cx="3108960" cy="411480"/>
          </a:xfrm>
          <a:prstGeom prst="roundRect">
            <a:avLst/>
          </a:prstGeom>
          <a:solidFill>
            <a:srgbClr val="00393F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E5FF"/>
                </a:solidFill>
              </a:defRPr>
            </a:pPr>
            <a:r>
              <a:t> 🚀  FUTURE ROADMAP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057400"/>
            <a:ext cx="30175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EtherCAT / CANopen HAL: Integrate real-time SOEM stack for distributed servo drives.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ROS 2 Integration: Develop a ros2_control hardware interface plugin.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 FPGA Acceleration: Offload PID and register maps to a RISC-V FPGA softcore.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E5FF"/>
                </a:solidFill>
              </a:defRPr>
            </a:pPr>
            <a:r>
              <a:t>DOMAIN 5: ROBOTICS, EDGE AI &amp; HARDWARE EMULATION  |  STAGE 6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Conclusion &amp; Open Discussion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0" y="411480"/>
            <a:ext cx="1828800" cy="411480"/>
          </a:xfrm>
          <a:prstGeom prst="roundRect">
            <a:avLst/>
          </a:prstGeom>
          <a:solidFill>
            <a:srgbClr val="141E3C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E5FF"/>
                </a:solidFill>
              </a:defRPr>
            </a:pPr>
            <a:r>
              <a:t>Q &amp; 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141E3C"/>
          </a:solidFill>
          <a:ln w="254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37360"/>
            <a:ext cx="9966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>
              <a:spcBef>
                <a:spcPts val="400"/>
              </a:spcBef>
              <a:defRPr sz="2000" b="1">
                <a:solidFill>
                  <a:srgbClr val="00E5FF"/>
                </a:solidFill>
              </a:defRPr>
            </a:pPr>
            <a:r>
              <a:t>Open for Questions &amp; Technical Evaluation</a:t>
            </a:r>
          </a:p>
          <a:p>
            <a:br/>
            <a:pPr>
              <a:defRPr sz="1400" b="1">
                <a:solidFill>
                  <a:srgbClr val="F59E0B"/>
                </a:solidFill>
              </a:defRPr>
            </a:pPr>
            <a:r>
              <a:t>Project Summary &amp; Submission Details:</a:t>
            </a:r>
          </a:p>
          <a:p>
            <a:pPr>
              <a:spcAft>
                <a:spcPts val="400"/>
              </a:spcAft>
              <a:defRPr sz="1200">
                <a:solidFill>
                  <a:srgbClr val="CBD5E1"/>
                </a:solidFill>
              </a:defRPr>
            </a:pPr>
            <a:r>
              <a:t>•  Domain 5: Robotics, Edge AI &amp; Hardware Emulation</a:t>
            </a:r>
          </a:p>
          <a:p>
            <a:pPr>
              <a:spcAft>
                <a:spcPts val="400"/>
              </a:spcAft>
              <a:defRPr sz="1200">
                <a:solidFill>
                  <a:srgbClr val="CBD5E1"/>
                </a:solidFill>
              </a:defRPr>
            </a:pPr>
            <a:r>
              <a:t>•  Repository: https://github.com/Amankumar307/robotic-motor-hub</a:t>
            </a:r>
          </a:p>
          <a:p>
            <a:pPr>
              <a:spcAft>
                <a:spcPts val="400"/>
              </a:spcAft>
              <a:defRPr sz="1200">
                <a:solidFill>
                  <a:srgbClr val="CBD5E1"/>
                </a:solidFill>
              </a:defRPr>
            </a:pPr>
            <a:r>
              <a:t>•  Full 6-Stage Deliverables: PRD, Architecture, UML, Driver, C++ Core, Test Suite &amp; Benchmarks</a:t>
            </a:r>
          </a:p>
          <a:p>
            <a:pPr>
              <a:spcAft>
                <a:spcPts val="400"/>
              </a:spcAft>
              <a:defRPr sz="1200">
                <a:solidFill>
                  <a:srgbClr val="CBD5E1"/>
                </a:solidFill>
              </a:defRPr>
            </a:pPr>
            <a:r>
              <a:t>•  Verification Status: 100% Pass across all automated unit, integration, and Pick-and-Place simulation tests.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